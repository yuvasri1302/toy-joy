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12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38"/>
  </p:normalViewPr>
  <p:slideViewPr>
    <p:cSldViewPr snapToGrid="0">
      <p:cViewPr varScale="1">
        <p:scale>
          <a:sx n="104" d="100"/>
          <a:sy n="104" d="100"/>
        </p:scale>
        <p:origin x="232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3CE4A-DA28-704D-A0D9-76EC47E30F16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F8F77A-5869-A14C-BAFB-310C021C2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07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8F77A-5869-A14C-BAFB-310C021C29D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50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44293-F74D-7441-A2E7-FB1D54C85AD0}" type="datetime1">
              <a:rPr lang="en-IN" smtClean="0"/>
              <a:t>20/05/26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Toyjoy -Seasonal Inventory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415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40C-FBFC-194F-8C54-5A9B22C01E42}" type="datetime1">
              <a:rPr lang="en-IN" smtClean="0"/>
              <a:t>20/05/26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Toyjoy -Seasonal Inventory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930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0DF6B-EAC8-3449-8CF7-46B2921A5A17}" type="datetime1">
              <a:rPr lang="en-IN" smtClean="0"/>
              <a:t>20/05/26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Toyjoy -Seasonal Inventory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454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1C03A-F1B8-4042-B427-FB4CA382E71A}" type="datetime1">
              <a:rPr lang="en-IN" smtClean="0"/>
              <a:t>20/05/26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Toyjoy -Seasonal Inventory Management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818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1232C-9979-8C42-8E9D-0BA5462A5F45}" type="datetime1">
              <a:rPr lang="en-IN" smtClean="0"/>
              <a:t>20/05/26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Toyjoy -Seasonal Inventory Management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41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723B4-6323-534F-986A-89EE328195BE}" type="datetime1">
              <a:rPr lang="en-IN" smtClean="0"/>
              <a:t>20/05/26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Toyjoy -Seasonal Inventory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083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2D4FE-28BC-B146-BD8F-F2BF1033AD56}" type="datetime1">
              <a:rPr lang="en-IN" smtClean="0"/>
              <a:t>20/05/26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Toyjoy -Seasonal Inventory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612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F9093-1850-1248-B608-37CBE2CCFED0}" type="datetime1">
              <a:rPr lang="en-IN" smtClean="0"/>
              <a:t>20/05/26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Toyjoy -Seasonal Inventory Management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182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2C02D-74C1-D140-A47A-3098385E8EAA}" type="datetime1">
              <a:rPr lang="en-IN" smtClean="0"/>
              <a:t>20/05/26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Toyjoy -Seasonal Inventory Management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28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D2E0-E321-4B48-9B46-E77A39169B75}" type="datetime1">
              <a:rPr lang="en-IN" smtClean="0"/>
              <a:t>20/05/26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Toyjoy -Seasonal Inventory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414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7A198-12EB-AB47-AB5B-F52CCA59A740}" type="datetime1">
              <a:rPr lang="en-IN" smtClean="0"/>
              <a:t>20/05/26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Toyjoy -Seasonal Inventory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900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D0FEF1AA-E99E-B14F-BAD7-9A6CE8FA704E}" type="datetime1">
              <a:rPr lang="en-IN" smtClean="0"/>
              <a:t>20/05/26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Toyjoy -Seasonal Inventory 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721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11" r:id="rId6"/>
    <p:sldLayoutId id="2147483706" r:id="rId7"/>
    <p:sldLayoutId id="2147483707" r:id="rId8"/>
    <p:sldLayoutId id="2147483708" r:id="rId9"/>
    <p:sldLayoutId id="2147483710" r:id="rId10"/>
    <p:sldLayoutId id="214748370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6E15305-164C-44CD-9E0F-420C2DC1B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2DC5C2-CCA7-49E4-B67F-6F121D488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E3D35CC-058B-F9D6-961C-E22BA2FAB6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688"/>
          <a:stretch>
            <a:fillRect/>
          </a:stretch>
        </p:blipFill>
        <p:spPr>
          <a:xfrm>
            <a:off x="-1" y="287089"/>
            <a:ext cx="12192001" cy="6857990"/>
          </a:xfrm>
          <a:prstGeom prst="rect">
            <a:avLst/>
          </a:prstGeom>
        </p:spPr>
      </p:pic>
      <p:sp useBgFill="1">
        <p:nvSpPr>
          <p:cNvPr id="18" name="Freeform: Shape 12">
            <a:extLst>
              <a:ext uri="{FF2B5EF4-FFF2-40B4-BE49-F238E27FC236}">
                <a16:creationId xmlns:a16="http://schemas.microsoft.com/office/drawing/2014/main" id="{27966D5E-7857-415C-B50C-0DD96BCB7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986" y="0"/>
            <a:ext cx="10615629" cy="6858000"/>
          </a:xfrm>
          <a:custGeom>
            <a:avLst/>
            <a:gdLst>
              <a:gd name="connsiteX0" fmla="*/ 7169276 w 10615629"/>
              <a:gd name="connsiteY0" fmla="*/ 5704266 h 6858000"/>
              <a:gd name="connsiteX1" fmla="*/ 7514897 w 10615629"/>
              <a:gd name="connsiteY1" fmla="*/ 6049887 h 6858000"/>
              <a:gd name="connsiteX2" fmla="*/ 7169276 w 10615629"/>
              <a:gd name="connsiteY2" fmla="*/ 6395508 h 6858000"/>
              <a:gd name="connsiteX3" fmla="*/ 6823655 w 10615629"/>
              <a:gd name="connsiteY3" fmla="*/ 6049887 h 6858000"/>
              <a:gd name="connsiteX4" fmla="*/ 7169276 w 10615629"/>
              <a:gd name="connsiteY4" fmla="*/ 5704266 h 6858000"/>
              <a:gd name="connsiteX5" fmla="*/ 10010446 w 10615629"/>
              <a:gd name="connsiteY5" fmla="*/ 2324705 h 6858000"/>
              <a:gd name="connsiteX6" fmla="*/ 10456760 w 10615629"/>
              <a:gd name="connsiteY6" fmla="*/ 2771019 h 6858000"/>
              <a:gd name="connsiteX7" fmla="*/ 10010446 w 10615629"/>
              <a:gd name="connsiteY7" fmla="*/ 3217333 h 6858000"/>
              <a:gd name="connsiteX8" fmla="*/ 9564132 w 10615629"/>
              <a:gd name="connsiteY8" fmla="*/ 2771019 h 6858000"/>
              <a:gd name="connsiteX9" fmla="*/ 10010446 w 10615629"/>
              <a:gd name="connsiteY9" fmla="*/ 2324705 h 6858000"/>
              <a:gd name="connsiteX10" fmla="*/ 10354145 w 10615629"/>
              <a:gd name="connsiteY10" fmla="*/ 1665213 h 6858000"/>
              <a:gd name="connsiteX11" fmla="*/ 10615629 w 10615629"/>
              <a:gd name="connsiteY11" fmla="*/ 1926697 h 6858000"/>
              <a:gd name="connsiteX12" fmla="*/ 10354145 w 10615629"/>
              <a:gd name="connsiteY12" fmla="*/ 2188181 h 6858000"/>
              <a:gd name="connsiteX13" fmla="*/ 10092661 w 10615629"/>
              <a:gd name="connsiteY13" fmla="*/ 1926697 h 6858000"/>
              <a:gd name="connsiteX14" fmla="*/ 10354145 w 10615629"/>
              <a:gd name="connsiteY14" fmla="*/ 1665213 h 6858000"/>
              <a:gd name="connsiteX15" fmla="*/ 1458901 w 10615629"/>
              <a:gd name="connsiteY15" fmla="*/ 659644 h 6858000"/>
              <a:gd name="connsiteX16" fmla="*/ 1905215 w 10615629"/>
              <a:gd name="connsiteY16" fmla="*/ 1105958 h 6858000"/>
              <a:gd name="connsiteX17" fmla="*/ 1458901 w 10615629"/>
              <a:gd name="connsiteY17" fmla="*/ 1552272 h 6858000"/>
              <a:gd name="connsiteX18" fmla="*/ 1012587 w 10615629"/>
              <a:gd name="connsiteY18" fmla="*/ 1105958 h 6858000"/>
              <a:gd name="connsiteX19" fmla="*/ 1458901 w 10615629"/>
              <a:gd name="connsiteY19" fmla="*/ 659644 h 6858000"/>
              <a:gd name="connsiteX20" fmla="*/ 6674038 w 10615629"/>
              <a:gd name="connsiteY20" fmla="*/ 0 h 6858000"/>
              <a:gd name="connsiteX21" fmla="*/ 10121228 w 10615629"/>
              <a:gd name="connsiteY21" fmla="*/ 0 h 6858000"/>
              <a:gd name="connsiteX22" fmla="*/ 10122250 w 10615629"/>
              <a:gd name="connsiteY22" fmla="*/ 1542 h 6858000"/>
              <a:gd name="connsiteX23" fmla="*/ 9914575 w 10615629"/>
              <a:gd name="connsiteY23" fmla="*/ 1714821 h 6858000"/>
              <a:gd name="connsiteX24" fmla="*/ 9361609 w 10615629"/>
              <a:gd name="connsiteY24" fmla="*/ 2396453 h 6858000"/>
              <a:gd name="connsiteX25" fmla="*/ 9334635 w 10615629"/>
              <a:gd name="connsiteY25" fmla="*/ 3107486 h 6858000"/>
              <a:gd name="connsiteX26" fmla="*/ 9815042 w 10615629"/>
              <a:gd name="connsiteY26" fmla="*/ 3891891 h 6858000"/>
              <a:gd name="connsiteX27" fmla="*/ 9376176 w 10615629"/>
              <a:gd name="connsiteY27" fmla="*/ 5202286 h 6858000"/>
              <a:gd name="connsiteX28" fmla="*/ 7869813 w 10615629"/>
              <a:gd name="connsiteY28" fmla="*/ 5436960 h 6858000"/>
              <a:gd name="connsiteX29" fmla="*/ 6545392 w 10615629"/>
              <a:gd name="connsiteY29" fmla="*/ 5630362 h 6858000"/>
              <a:gd name="connsiteX30" fmla="*/ 5772723 w 10615629"/>
              <a:gd name="connsiteY30" fmla="*/ 6502431 h 6858000"/>
              <a:gd name="connsiteX31" fmla="*/ 5542129 w 10615629"/>
              <a:gd name="connsiteY31" fmla="*/ 6791052 h 6858000"/>
              <a:gd name="connsiteX32" fmla="*/ 5487454 w 10615629"/>
              <a:gd name="connsiteY32" fmla="*/ 6858000 h 6858000"/>
              <a:gd name="connsiteX33" fmla="*/ 3860772 w 10615629"/>
              <a:gd name="connsiteY33" fmla="*/ 6858000 h 6858000"/>
              <a:gd name="connsiteX34" fmla="*/ 3806309 w 10615629"/>
              <a:gd name="connsiteY34" fmla="*/ 6753976 h 6858000"/>
              <a:gd name="connsiteX35" fmla="*/ 3692626 w 10615629"/>
              <a:gd name="connsiteY35" fmla="*/ 6315366 h 6858000"/>
              <a:gd name="connsiteX36" fmla="*/ 2561203 w 10615629"/>
              <a:gd name="connsiteY36" fmla="*/ 5694965 h 6858000"/>
              <a:gd name="connsiteX37" fmla="*/ 69617 w 10615629"/>
              <a:gd name="connsiteY37" fmla="*/ 4316865 h 6858000"/>
              <a:gd name="connsiteX38" fmla="*/ 1643 w 10615629"/>
              <a:gd name="connsiteY38" fmla="*/ 3718987 h 6858000"/>
              <a:gd name="connsiteX39" fmla="*/ 368893 w 10615629"/>
              <a:gd name="connsiteY39" fmla="*/ 2555465 h 6858000"/>
              <a:gd name="connsiteX40" fmla="*/ 1113509 w 10615629"/>
              <a:gd name="connsiteY40" fmla="*/ 2231777 h 6858000"/>
              <a:gd name="connsiteX41" fmla="*/ 2037233 w 10615629"/>
              <a:gd name="connsiteY41" fmla="*/ 2044714 h 6858000"/>
              <a:gd name="connsiteX42" fmla="*/ 2547311 w 10615629"/>
              <a:gd name="connsiteY42" fmla="*/ 1444273 h 6858000"/>
              <a:gd name="connsiteX43" fmla="*/ 3900864 w 10615629"/>
              <a:gd name="connsiteY43" fmla="*/ 617925 h 6858000"/>
              <a:gd name="connsiteX44" fmla="*/ 4571572 w 10615629"/>
              <a:gd name="connsiteY44" fmla="*/ 899937 h 6858000"/>
              <a:gd name="connsiteX45" fmla="*/ 6039226 w 10615629"/>
              <a:gd name="connsiteY45" fmla="*/ 670658 h 6858000"/>
              <a:gd name="connsiteX46" fmla="*/ 6656610 w 10615629"/>
              <a:gd name="connsiteY46" fmla="*/ 1615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0615629" h="6858000">
                <a:moveTo>
                  <a:pt x="7169276" y="5704266"/>
                </a:moveTo>
                <a:cubicBezTo>
                  <a:pt x="7360157" y="5704266"/>
                  <a:pt x="7514897" y="5859006"/>
                  <a:pt x="7514897" y="6049887"/>
                </a:cubicBezTo>
                <a:cubicBezTo>
                  <a:pt x="7514897" y="6240768"/>
                  <a:pt x="7360157" y="6395508"/>
                  <a:pt x="7169276" y="6395508"/>
                </a:cubicBezTo>
                <a:cubicBezTo>
                  <a:pt x="6978395" y="6395508"/>
                  <a:pt x="6823655" y="6240768"/>
                  <a:pt x="6823655" y="6049887"/>
                </a:cubicBezTo>
                <a:cubicBezTo>
                  <a:pt x="6823655" y="5859006"/>
                  <a:pt x="6978395" y="5704266"/>
                  <a:pt x="7169276" y="5704266"/>
                </a:cubicBezTo>
                <a:close/>
                <a:moveTo>
                  <a:pt x="10010446" y="2324705"/>
                </a:moveTo>
                <a:cubicBezTo>
                  <a:pt x="10256938" y="2324705"/>
                  <a:pt x="10456760" y="2524528"/>
                  <a:pt x="10456760" y="2771019"/>
                </a:cubicBezTo>
                <a:cubicBezTo>
                  <a:pt x="10456760" y="3017511"/>
                  <a:pt x="10256938" y="3217333"/>
                  <a:pt x="10010446" y="3217333"/>
                </a:cubicBezTo>
                <a:cubicBezTo>
                  <a:pt x="9763954" y="3217333"/>
                  <a:pt x="9564132" y="3017511"/>
                  <a:pt x="9564132" y="2771019"/>
                </a:cubicBezTo>
                <a:cubicBezTo>
                  <a:pt x="9564132" y="2524528"/>
                  <a:pt x="9763954" y="2324705"/>
                  <a:pt x="10010446" y="2324705"/>
                </a:cubicBezTo>
                <a:close/>
                <a:moveTo>
                  <a:pt x="10354145" y="1665213"/>
                </a:moveTo>
                <a:cubicBezTo>
                  <a:pt x="10498559" y="1665213"/>
                  <a:pt x="10615629" y="1782283"/>
                  <a:pt x="10615629" y="1926697"/>
                </a:cubicBezTo>
                <a:cubicBezTo>
                  <a:pt x="10615629" y="2071111"/>
                  <a:pt x="10498559" y="2188181"/>
                  <a:pt x="10354145" y="2188181"/>
                </a:cubicBezTo>
                <a:cubicBezTo>
                  <a:pt x="10209731" y="2188181"/>
                  <a:pt x="10092661" y="2071111"/>
                  <a:pt x="10092661" y="1926697"/>
                </a:cubicBezTo>
                <a:cubicBezTo>
                  <a:pt x="10092661" y="1782283"/>
                  <a:pt x="10209731" y="1665213"/>
                  <a:pt x="10354145" y="1665213"/>
                </a:cubicBezTo>
                <a:close/>
                <a:moveTo>
                  <a:pt x="1458901" y="659644"/>
                </a:moveTo>
                <a:cubicBezTo>
                  <a:pt x="1705393" y="659644"/>
                  <a:pt x="1905215" y="859466"/>
                  <a:pt x="1905215" y="1105958"/>
                </a:cubicBezTo>
                <a:cubicBezTo>
                  <a:pt x="1905215" y="1352450"/>
                  <a:pt x="1705393" y="1552272"/>
                  <a:pt x="1458901" y="1552272"/>
                </a:cubicBezTo>
                <a:cubicBezTo>
                  <a:pt x="1212409" y="1552272"/>
                  <a:pt x="1012587" y="1352450"/>
                  <a:pt x="1012587" y="1105958"/>
                </a:cubicBezTo>
                <a:cubicBezTo>
                  <a:pt x="1012587" y="859466"/>
                  <a:pt x="1212409" y="659644"/>
                  <a:pt x="1458901" y="659644"/>
                </a:cubicBezTo>
                <a:close/>
                <a:moveTo>
                  <a:pt x="6674038" y="0"/>
                </a:moveTo>
                <a:lnTo>
                  <a:pt x="10121228" y="0"/>
                </a:lnTo>
                <a:lnTo>
                  <a:pt x="10122250" y="1542"/>
                </a:lnTo>
                <a:cubicBezTo>
                  <a:pt x="10407914" y="485220"/>
                  <a:pt x="10448238" y="1134713"/>
                  <a:pt x="9914575" y="1714821"/>
                </a:cubicBezTo>
                <a:cubicBezTo>
                  <a:pt x="9716856" y="1929804"/>
                  <a:pt x="9539638" y="2164208"/>
                  <a:pt x="9361609" y="2396453"/>
                </a:cubicBezTo>
                <a:cubicBezTo>
                  <a:pt x="9193292" y="2616157"/>
                  <a:pt x="9188572" y="2869712"/>
                  <a:pt x="9334635" y="3107486"/>
                </a:cubicBezTo>
                <a:cubicBezTo>
                  <a:pt x="9495670" y="3368730"/>
                  <a:pt x="9683004" y="3617025"/>
                  <a:pt x="9815042" y="3891891"/>
                </a:cubicBezTo>
                <a:cubicBezTo>
                  <a:pt x="10050525" y="4382007"/>
                  <a:pt x="9955575" y="4864841"/>
                  <a:pt x="9376176" y="5202286"/>
                </a:cubicBezTo>
                <a:cubicBezTo>
                  <a:pt x="8901029" y="5479039"/>
                  <a:pt x="8396077" y="5489829"/>
                  <a:pt x="7869813" y="5436960"/>
                </a:cubicBezTo>
                <a:cubicBezTo>
                  <a:pt x="7414764" y="5391373"/>
                  <a:pt x="6924917" y="5356038"/>
                  <a:pt x="6545392" y="5630362"/>
                </a:cubicBezTo>
                <a:cubicBezTo>
                  <a:pt x="6238294" y="5852628"/>
                  <a:pt x="6024795" y="6205178"/>
                  <a:pt x="5772723" y="6502431"/>
                </a:cubicBezTo>
                <a:cubicBezTo>
                  <a:pt x="5693285" y="6596233"/>
                  <a:pt x="5618533" y="6694485"/>
                  <a:pt x="5542129" y="6791052"/>
                </a:cubicBezTo>
                <a:lnTo>
                  <a:pt x="5487454" y="6858000"/>
                </a:lnTo>
                <a:lnTo>
                  <a:pt x="3860772" y="6858000"/>
                </a:lnTo>
                <a:lnTo>
                  <a:pt x="3806309" y="6753976"/>
                </a:lnTo>
                <a:cubicBezTo>
                  <a:pt x="3748311" y="6617180"/>
                  <a:pt x="3717510" y="6461835"/>
                  <a:pt x="3692626" y="6315366"/>
                </a:cubicBezTo>
                <a:cubicBezTo>
                  <a:pt x="3594980" y="5743923"/>
                  <a:pt x="2996563" y="5569132"/>
                  <a:pt x="2561203" y="5694965"/>
                </a:cubicBezTo>
                <a:cubicBezTo>
                  <a:pt x="1295584" y="6063834"/>
                  <a:pt x="405173" y="5417942"/>
                  <a:pt x="69617" y="4316865"/>
                </a:cubicBezTo>
                <a:cubicBezTo>
                  <a:pt x="12163" y="4128181"/>
                  <a:pt x="22818" y="3919404"/>
                  <a:pt x="1643" y="3718987"/>
                </a:cubicBezTo>
                <a:cubicBezTo>
                  <a:pt x="-11845" y="3285650"/>
                  <a:pt x="53163" y="2879692"/>
                  <a:pt x="368893" y="2555465"/>
                </a:cubicBezTo>
                <a:cubicBezTo>
                  <a:pt x="570254" y="2348709"/>
                  <a:pt x="826642" y="2266304"/>
                  <a:pt x="1113509" y="2231777"/>
                </a:cubicBezTo>
                <a:cubicBezTo>
                  <a:pt x="1425464" y="2194013"/>
                  <a:pt x="1739171" y="2139122"/>
                  <a:pt x="2037233" y="2044714"/>
                </a:cubicBezTo>
                <a:cubicBezTo>
                  <a:pt x="2313448" y="1957047"/>
                  <a:pt x="2430109" y="1689061"/>
                  <a:pt x="2547311" y="1444273"/>
                </a:cubicBezTo>
                <a:cubicBezTo>
                  <a:pt x="2839304" y="834121"/>
                  <a:pt x="3300290" y="529585"/>
                  <a:pt x="3900864" y="617925"/>
                </a:cubicBezTo>
                <a:cubicBezTo>
                  <a:pt x="4133785" y="652182"/>
                  <a:pt x="4362119" y="778959"/>
                  <a:pt x="4571572" y="899937"/>
                </a:cubicBezTo>
                <a:cubicBezTo>
                  <a:pt x="5133170" y="1224435"/>
                  <a:pt x="5641899" y="1068660"/>
                  <a:pt x="6039226" y="670658"/>
                </a:cubicBezTo>
                <a:cubicBezTo>
                  <a:pt x="6250634" y="458239"/>
                  <a:pt x="6444898" y="227157"/>
                  <a:pt x="6656610" y="16159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DE00C9-97D6-1588-9BAC-1D38B8523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1743" y="1122363"/>
            <a:ext cx="6458556" cy="148261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STUDY-5</a:t>
            </a:r>
            <a:b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TOYJOY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2B4EC8-A00F-F5B4-4CFC-87DF4E80EA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1743" y="2881424"/>
            <a:ext cx="6773252" cy="1482614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Cambria" panose="02040503050406030204" pitchFamily="18" charset="0"/>
              </a:rPr>
              <a:t>Retail Inventory Management </a:t>
            </a:r>
          </a:p>
          <a:p>
            <a:pPr algn="ctr"/>
            <a:r>
              <a:rPr lang="en-IN" b="1" dirty="0">
                <a:solidFill>
                  <a:srgbClr val="002060"/>
                </a:solidFill>
                <a:latin typeface="Cambria" panose="02040503050406030204" pitchFamily="18" charset="0"/>
              </a:rPr>
              <a:t>&amp; </a:t>
            </a:r>
          </a:p>
          <a:p>
            <a:pPr algn="ctr"/>
            <a:r>
              <a:rPr lang="en-IN" b="1" dirty="0">
                <a:solidFill>
                  <a:srgbClr val="002060"/>
                </a:solidFill>
                <a:latin typeface="Cambria" panose="02040503050406030204" pitchFamily="18" charset="0"/>
              </a:rPr>
              <a:t>Sales Performance Analysis </a:t>
            </a:r>
            <a:endParaRPr lang="en-US" b="1" dirty="0">
              <a:solidFill>
                <a:srgbClr val="00206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4589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1390D-2F97-A4F0-951D-FFCCFDE9F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648587"/>
            <a:ext cx="10972800" cy="5494152"/>
          </a:xfrm>
        </p:spPr>
        <p:txBody>
          <a:bodyPr>
            <a:normAutofit/>
          </a:bodyPr>
          <a:lstStyle/>
          <a:p>
            <a:r>
              <a:rPr lang="en-IN" b="1" i="1" dirty="0">
                <a:solidFill>
                  <a:srgbClr val="002060"/>
                </a:solidFill>
                <a:latin typeface="Cambria" panose="02040503050406030204" pitchFamily="18" charset="0"/>
              </a:rPr>
              <a:t>    </a:t>
            </a:r>
            <a:r>
              <a:rPr lang="en-IN" sz="2400" b="1" i="1" dirty="0">
                <a:solidFill>
                  <a:srgbClr val="002060"/>
                </a:solidFill>
                <a:latin typeface="Cambria" panose="02040503050406030204" pitchFamily="18" charset="0"/>
              </a:rPr>
              <a:t>1.Introduction</a:t>
            </a:r>
            <a:endParaRPr lang="en-IN" b="1" i="1" dirty="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r>
              <a:rPr lang="en-IN" sz="1600" dirty="0">
                <a:latin typeface="Cambria" panose="02040503050406030204" pitchFamily="18" charset="0"/>
              </a:rPr>
              <a:t>	</a:t>
            </a:r>
            <a:r>
              <a:rPr lang="en-IN" sz="1600" dirty="0" err="1">
                <a:latin typeface="Cambria" panose="02040503050406030204" pitchFamily="18" charset="0"/>
              </a:rPr>
              <a:t>ToyJoy</a:t>
            </a:r>
            <a:r>
              <a:rPr lang="en-IN" sz="1600" dirty="0">
                <a:latin typeface="Cambria" panose="02040503050406030204" pitchFamily="18" charset="0"/>
              </a:rPr>
              <a:t> is a toy retail company that manages inventory across multiple warehouses and suppliers.</a:t>
            </a:r>
          </a:p>
          <a:p>
            <a:pPr marL="285750" indent="-285750">
              <a:buFont typeface="Wingdings" pitchFamily="2" charset="2"/>
              <a:buChar char="ü"/>
            </a:pPr>
            <a:endParaRPr lang="en-IN" sz="1600" dirty="0">
              <a:latin typeface="Cambria" panose="02040503050406030204" pitchFamily="18" charset="0"/>
            </a:endParaRPr>
          </a:p>
          <a:p>
            <a:pPr lvl="4"/>
            <a:r>
              <a:rPr lang="en-IN" sz="1600" dirty="0">
                <a:latin typeface="Cambria" panose="02040503050406030204" pitchFamily="18" charset="0"/>
              </a:rPr>
              <a:t>The company sells different categories of toys including:</a:t>
            </a:r>
          </a:p>
          <a:p>
            <a:pPr lvl="5"/>
            <a:r>
              <a:rPr lang="en-IN" sz="1600" dirty="0">
                <a:latin typeface="Cambria" panose="02040503050406030204" pitchFamily="18" charset="0"/>
              </a:rPr>
              <a:t>Action Figures </a:t>
            </a:r>
          </a:p>
          <a:p>
            <a:pPr lvl="5"/>
            <a:r>
              <a:rPr lang="en-IN" sz="1600" dirty="0">
                <a:latin typeface="Cambria" panose="02040503050406030204" pitchFamily="18" charset="0"/>
              </a:rPr>
              <a:t>Educational Toys </a:t>
            </a:r>
          </a:p>
          <a:p>
            <a:pPr lvl="5"/>
            <a:r>
              <a:rPr lang="en-IN" sz="1600" dirty="0">
                <a:latin typeface="Cambria" panose="02040503050406030204" pitchFamily="18" charset="0"/>
              </a:rPr>
              <a:t>Board Games </a:t>
            </a:r>
          </a:p>
          <a:p>
            <a:pPr lvl="5"/>
            <a:r>
              <a:rPr lang="en-IN" sz="1600" dirty="0">
                <a:latin typeface="Cambria" panose="02040503050406030204" pitchFamily="18" charset="0"/>
              </a:rPr>
              <a:t>Dolls </a:t>
            </a:r>
          </a:p>
          <a:p>
            <a:pPr lvl="5"/>
            <a:r>
              <a:rPr lang="en-IN" sz="1600" dirty="0">
                <a:latin typeface="Cambria" panose="02040503050406030204" pitchFamily="18" charset="0"/>
              </a:rPr>
              <a:t>Puzzles </a:t>
            </a:r>
          </a:p>
          <a:p>
            <a:pPr lvl="5"/>
            <a:r>
              <a:rPr lang="en-IN" sz="1600" dirty="0">
                <a:latin typeface="Cambria" panose="02040503050406030204" pitchFamily="18" charset="0"/>
              </a:rPr>
              <a:t>Remote-Control Toys </a:t>
            </a:r>
          </a:p>
          <a:p>
            <a:r>
              <a:rPr lang="en-IN" sz="1600" dirty="0">
                <a:latin typeface="Cambria" panose="02040503050406030204" pitchFamily="18" charset="0"/>
              </a:rPr>
              <a:t>	The management wanted to improve inventory tracking, reduce stock shortages, and optimize product performance.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6ED3E-8EC1-7504-7FBC-C1D9F1E8F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17527-6649-8D44-A484-D1D0641A427A}" type="datetime1">
              <a:rPr lang="en-IN" smtClean="0"/>
              <a:t>20/05/26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F93F3-8596-F478-595B-C3DA47A7D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Toyjoy -Seasonal Inventory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BE19C-382F-0E8F-E1EA-F83D79F5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942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E4496-F04B-8ED1-AD90-8C559FFF1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733647"/>
            <a:ext cx="10972800" cy="5409091"/>
          </a:xfrm>
        </p:spPr>
        <p:txBody>
          <a:bodyPr/>
          <a:lstStyle/>
          <a:p>
            <a:r>
              <a:rPr lang="en-IN" b="1" i="1" dirty="0">
                <a:solidFill>
                  <a:srgbClr val="002060"/>
                </a:solidFill>
                <a:latin typeface="Cambria" panose="02040503050406030204" pitchFamily="18" charset="0"/>
              </a:rPr>
              <a:t>   </a:t>
            </a:r>
            <a:r>
              <a:rPr lang="en-IN" sz="2400" b="1" i="1" dirty="0">
                <a:solidFill>
                  <a:srgbClr val="002060"/>
                </a:solidFill>
                <a:latin typeface="Cambria" panose="02040503050406030204" pitchFamily="18" charset="0"/>
              </a:rPr>
              <a:t>2. Business Problem</a:t>
            </a:r>
            <a:endParaRPr lang="en-IN" b="1" i="1" dirty="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endParaRPr lang="en-IN" b="1" i="1" dirty="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971550" lvl="3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latin typeface="Cambria" panose="02040503050406030204" pitchFamily="18" charset="0"/>
              </a:rPr>
              <a:t>ToyJoy</a:t>
            </a:r>
            <a:r>
              <a:rPr lang="en-IN" sz="1600" dirty="0">
                <a:latin typeface="Cambria" panose="02040503050406030204" pitchFamily="18" charset="0"/>
              </a:rPr>
              <a:t> faced several operational challenges:</a:t>
            </a:r>
          </a:p>
          <a:p>
            <a:pPr marL="971550" lvl="3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mbria" panose="02040503050406030204" pitchFamily="18" charset="0"/>
              </a:rPr>
              <a:t>Overstock and understock issues </a:t>
            </a:r>
          </a:p>
          <a:p>
            <a:pPr marL="971550" lvl="3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mbria" panose="02040503050406030204" pitchFamily="18" charset="0"/>
              </a:rPr>
              <a:t>Difficulty tracking fast-selling products </a:t>
            </a:r>
          </a:p>
          <a:p>
            <a:pPr marL="971550" lvl="3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mbria" panose="02040503050406030204" pitchFamily="18" charset="0"/>
              </a:rPr>
              <a:t>Delayed reordering decisions </a:t>
            </a:r>
          </a:p>
          <a:p>
            <a:pPr marL="971550" lvl="3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mbria" panose="02040503050406030204" pitchFamily="18" charset="0"/>
              </a:rPr>
              <a:t>Inventory imbalance across warehouses </a:t>
            </a:r>
          </a:p>
          <a:p>
            <a:pPr marL="971550" lvl="3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mbria" panose="02040503050406030204" pitchFamily="18" charset="0"/>
              </a:rPr>
              <a:t>Lack of real-time inventory visibility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31A33-6BDD-7210-F8C1-A373EBDC5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1C0E3-5891-E74F-93C0-1FBD470CC7D8}" type="datetime1">
              <a:rPr lang="en-IN" smtClean="0"/>
              <a:t>20/05/26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4737E-5F98-6461-535B-2149F2998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Toyjoy -Seasonal Inventory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6145F-B415-461F-220E-F678977D9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232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38877-43B9-7773-4B3E-6F5F6159B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179" y="691978"/>
            <a:ext cx="10972800" cy="5491378"/>
          </a:xfrm>
        </p:spPr>
        <p:txBody>
          <a:bodyPr/>
          <a:lstStyle/>
          <a:p>
            <a:r>
              <a:rPr lang="en-IN" b="1" i="1" dirty="0">
                <a:solidFill>
                  <a:srgbClr val="002060"/>
                </a:solidFill>
                <a:latin typeface="Cambria" panose="02040503050406030204" pitchFamily="18" charset="0"/>
              </a:rPr>
              <a:t>   </a:t>
            </a:r>
            <a:r>
              <a:rPr lang="en-IN" sz="2400" b="1" i="1" dirty="0">
                <a:solidFill>
                  <a:srgbClr val="002060"/>
                </a:solidFill>
                <a:latin typeface="Cambria" panose="02040503050406030204" pitchFamily="18" charset="0"/>
              </a:rPr>
              <a:t>3.OBJECTIVES</a:t>
            </a:r>
            <a:endParaRPr lang="en-IN" b="1" i="1" dirty="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endParaRPr lang="en-IN" sz="1800" b="1" i="1" dirty="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r>
              <a:rPr lang="en-IN" sz="1800" b="1" i="1" dirty="0">
                <a:solidFill>
                  <a:srgbClr val="002060"/>
                </a:solidFill>
                <a:latin typeface="Cambria" panose="02040503050406030204" pitchFamily="18" charset="0"/>
              </a:rPr>
              <a:t>	</a:t>
            </a:r>
            <a:r>
              <a:rPr lang="en-IN" sz="1800" dirty="0">
                <a:latin typeface="Cambria" panose="02040503050406030204" pitchFamily="18" charset="0"/>
              </a:rPr>
              <a:t>The main objectives of this analysis were:</a:t>
            </a:r>
          </a:p>
          <a:p>
            <a:pPr lvl="5"/>
            <a:r>
              <a:rPr lang="en-IN" dirty="0">
                <a:latin typeface="Cambria" panose="02040503050406030204" pitchFamily="18" charset="0"/>
              </a:rPr>
              <a:t>Monitor inventory levels </a:t>
            </a:r>
          </a:p>
          <a:p>
            <a:pPr lvl="5"/>
            <a:r>
              <a:rPr lang="en-IN" dirty="0">
                <a:latin typeface="Cambria" panose="02040503050406030204" pitchFamily="18" charset="0"/>
              </a:rPr>
              <a:t>Identify top-selling products </a:t>
            </a:r>
          </a:p>
          <a:p>
            <a:pPr lvl="5"/>
            <a:r>
              <a:rPr lang="en-IN" dirty="0" err="1">
                <a:latin typeface="Cambria" panose="02040503050406030204" pitchFamily="18" charset="0"/>
              </a:rPr>
              <a:t>Analyze</a:t>
            </a:r>
            <a:r>
              <a:rPr lang="en-IN" dirty="0">
                <a:latin typeface="Cambria" panose="02040503050406030204" pitchFamily="18" charset="0"/>
              </a:rPr>
              <a:t> warehouse stock distribution </a:t>
            </a:r>
          </a:p>
          <a:p>
            <a:pPr lvl="5"/>
            <a:r>
              <a:rPr lang="en-IN" dirty="0">
                <a:latin typeface="Cambria" panose="02040503050406030204" pitchFamily="18" charset="0"/>
              </a:rPr>
              <a:t>Improve reorder planning </a:t>
            </a:r>
          </a:p>
          <a:p>
            <a:pPr lvl="5"/>
            <a:r>
              <a:rPr lang="en-IN" dirty="0">
                <a:latin typeface="Cambria" panose="02040503050406030204" pitchFamily="18" charset="0"/>
              </a:rPr>
              <a:t>Reduce stock shortages and excess inventory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430B4-3B3B-A395-F11B-59E3C833E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668CB-EA4B-6641-9AEE-82F03CF0292A}" type="datetime1">
              <a:rPr lang="en-IN" smtClean="0"/>
              <a:t>20/05/26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0670F-4D8F-B8DD-A52C-A78F8F84E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Toyjoy -Seasonal Inventory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AFB5E-EFF3-FAA9-FA0C-962AF5C56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630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4A3B6-B281-7CEA-A03A-8851EE6A5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383957" y="627321"/>
            <a:ext cx="12966357" cy="5515417"/>
          </a:xfrm>
        </p:spPr>
        <p:txBody>
          <a:bodyPr>
            <a:normAutofit/>
          </a:bodyPr>
          <a:lstStyle/>
          <a:p>
            <a:pPr marL="2286000" lvl="5" indent="0">
              <a:buNone/>
            </a:pPr>
            <a:r>
              <a:rPr lang="en-IN" sz="2400" b="1" i="1" dirty="0">
                <a:solidFill>
                  <a:srgbClr val="002060"/>
                </a:solidFill>
                <a:latin typeface="Cambria" panose="02040503050406030204" pitchFamily="18" charset="0"/>
              </a:rPr>
              <a:t>4.Dataset Overview</a:t>
            </a:r>
          </a:p>
          <a:p>
            <a:pPr marL="2286000" lvl="5" indent="0">
              <a:buNone/>
            </a:pPr>
            <a:endParaRPr lang="en-IN" sz="2000" b="1" dirty="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3200400" lvl="7" indent="0">
              <a:buNone/>
            </a:pPr>
            <a:r>
              <a:rPr lang="en-IN" dirty="0">
                <a:latin typeface="Cambria" panose="02040503050406030204" pitchFamily="18" charset="0"/>
              </a:rPr>
              <a:t>The dataset contains:</a:t>
            </a:r>
          </a:p>
          <a:p>
            <a:pPr lvl="8"/>
            <a:r>
              <a:rPr lang="en-IN" dirty="0">
                <a:latin typeface="Cambria" panose="02040503050406030204" pitchFamily="18" charset="0"/>
              </a:rPr>
              <a:t>Product ID </a:t>
            </a:r>
          </a:p>
          <a:p>
            <a:pPr lvl="8"/>
            <a:r>
              <a:rPr lang="en-IN" dirty="0">
                <a:latin typeface="Cambria" panose="02040503050406030204" pitchFamily="18" charset="0"/>
              </a:rPr>
              <a:t>Product Name </a:t>
            </a:r>
          </a:p>
          <a:p>
            <a:pPr lvl="8"/>
            <a:r>
              <a:rPr lang="en-IN" dirty="0">
                <a:latin typeface="Cambria" panose="02040503050406030204" pitchFamily="18" charset="0"/>
              </a:rPr>
              <a:t>Category </a:t>
            </a:r>
          </a:p>
          <a:p>
            <a:pPr lvl="8"/>
            <a:r>
              <a:rPr lang="en-IN" dirty="0">
                <a:latin typeface="Cambria" panose="02040503050406030204" pitchFamily="18" charset="0"/>
              </a:rPr>
              <a:t>Supplier </a:t>
            </a:r>
          </a:p>
          <a:p>
            <a:pPr lvl="8"/>
            <a:r>
              <a:rPr lang="en-IN" dirty="0">
                <a:latin typeface="Cambria" panose="02040503050406030204" pitchFamily="18" charset="0"/>
              </a:rPr>
              <a:t>Warehouse </a:t>
            </a:r>
          </a:p>
          <a:p>
            <a:pPr lvl="8"/>
            <a:r>
              <a:rPr lang="en-IN" dirty="0">
                <a:latin typeface="Cambria" panose="02040503050406030204" pitchFamily="18" charset="0"/>
              </a:rPr>
              <a:t>Stock Quantity </a:t>
            </a:r>
          </a:p>
          <a:p>
            <a:pPr lvl="8"/>
            <a:r>
              <a:rPr lang="en-IN" dirty="0">
                <a:latin typeface="Cambria" panose="02040503050406030204" pitchFamily="18" charset="0"/>
              </a:rPr>
              <a:t>Unit Price </a:t>
            </a:r>
          </a:p>
          <a:p>
            <a:pPr lvl="8"/>
            <a:r>
              <a:rPr lang="en-IN" dirty="0">
                <a:latin typeface="Cambria" panose="02040503050406030204" pitchFamily="18" charset="0"/>
              </a:rPr>
              <a:t>Reorder Level </a:t>
            </a:r>
          </a:p>
          <a:p>
            <a:pPr lvl="8"/>
            <a:r>
              <a:rPr lang="en-IN" dirty="0">
                <a:latin typeface="Cambria" panose="02040503050406030204" pitchFamily="18" charset="0"/>
              </a:rPr>
              <a:t>Units Sold Last Month </a:t>
            </a:r>
          </a:p>
          <a:p>
            <a:pPr lvl="8"/>
            <a:r>
              <a:rPr lang="en-IN" dirty="0">
                <a:latin typeface="Cambria" panose="02040503050406030204" pitchFamily="18" charset="0"/>
              </a:rPr>
              <a:t>Product Rating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429C3-4D9F-0014-D161-76CA84A6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B0CB9-17FF-4C4F-B196-E2E77710C0D5}" type="datetime1">
              <a:rPr lang="en-IN" smtClean="0"/>
              <a:t>20/05/26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E511C-E7AC-A0B7-1C4B-BC5C5B002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Toyjoy -Seasonal Inventory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29ECA-3208-19D5-239F-8A4EE6640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295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01A73-48AB-5579-8A44-23E2F7521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668162" y="642551"/>
            <a:ext cx="13250562" cy="5500187"/>
          </a:xfrm>
        </p:spPr>
        <p:txBody>
          <a:bodyPr>
            <a:normAutofit/>
          </a:bodyPr>
          <a:lstStyle/>
          <a:p>
            <a:pPr marL="2286000" lvl="5" indent="0">
              <a:buNone/>
            </a:pPr>
            <a:r>
              <a:rPr lang="en-IN" sz="2400" b="1" dirty="0">
                <a:solidFill>
                  <a:srgbClr val="002060"/>
                </a:solidFill>
                <a:latin typeface="Cambria" panose="02040503050406030204" pitchFamily="18" charset="0"/>
              </a:rPr>
              <a:t>5. Key KPIs</a:t>
            </a:r>
          </a:p>
          <a:p>
            <a:pPr marL="2286000" lvl="5" indent="0">
              <a:buNone/>
            </a:pPr>
            <a:endParaRPr lang="en-IN" sz="2400" b="1" dirty="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3200400" lvl="7" indent="0">
              <a:buNone/>
            </a:pPr>
            <a:r>
              <a:rPr lang="en-IN" b="1" dirty="0">
                <a:latin typeface="Cambria" panose="02040503050406030204" pitchFamily="18" charset="0"/>
              </a:rPr>
              <a:t>Inventory KPIs</a:t>
            </a:r>
          </a:p>
          <a:p>
            <a:pPr lvl="8"/>
            <a:r>
              <a:rPr lang="en-IN" dirty="0">
                <a:latin typeface="Cambria" panose="02040503050406030204" pitchFamily="18" charset="0"/>
              </a:rPr>
              <a:t>Total Inventory Stock </a:t>
            </a:r>
          </a:p>
          <a:p>
            <a:pPr lvl="8"/>
            <a:r>
              <a:rPr lang="en-IN" dirty="0">
                <a:latin typeface="Cambria" panose="02040503050406030204" pitchFamily="18" charset="0"/>
              </a:rPr>
              <a:t>Total Sales Units </a:t>
            </a:r>
          </a:p>
          <a:p>
            <a:pPr lvl="8"/>
            <a:r>
              <a:rPr lang="en-IN" dirty="0">
                <a:latin typeface="Cambria" panose="02040503050406030204" pitchFamily="18" charset="0"/>
              </a:rPr>
              <a:t>Low Stock Products </a:t>
            </a:r>
          </a:p>
          <a:p>
            <a:pPr lvl="8"/>
            <a:r>
              <a:rPr lang="en-IN" dirty="0">
                <a:latin typeface="Cambria" panose="02040503050406030204" pitchFamily="18" charset="0"/>
              </a:rPr>
              <a:t>Reorder Requirement </a:t>
            </a:r>
          </a:p>
          <a:p>
            <a:pPr lvl="8"/>
            <a:r>
              <a:rPr lang="en-IN" dirty="0">
                <a:latin typeface="Cambria" panose="02040503050406030204" pitchFamily="18" charset="0"/>
              </a:rPr>
              <a:t>Average Product Rating </a:t>
            </a:r>
          </a:p>
          <a:p>
            <a:pPr lvl="8"/>
            <a:r>
              <a:rPr lang="en-IN" dirty="0">
                <a:latin typeface="Cambria" panose="02040503050406030204" pitchFamily="18" charset="0"/>
              </a:rPr>
              <a:t>Inventory Value </a:t>
            </a:r>
          </a:p>
          <a:p>
            <a:pPr lvl="8"/>
            <a:r>
              <a:rPr lang="en-IN" dirty="0">
                <a:latin typeface="Cambria" panose="02040503050406030204" pitchFamily="18" charset="0"/>
              </a:rPr>
              <a:t>Top Selling Products </a:t>
            </a:r>
          </a:p>
          <a:p>
            <a:pPr lvl="8"/>
            <a:r>
              <a:rPr lang="en-IN" dirty="0">
                <a:latin typeface="Cambria" panose="02040503050406030204" pitchFamily="18" charset="0"/>
              </a:rPr>
              <a:t>Warehouse-wise Inventory</a:t>
            </a:r>
          </a:p>
          <a:p>
            <a:pPr lvl="5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18E7C-58A5-DF2D-BB49-C126D5D95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5A4EA-A589-1048-914E-728449CF4A3F}" type="datetime1">
              <a:rPr lang="en-IN" smtClean="0"/>
              <a:t>20/05/26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86AFB-7337-C353-C0C6-46480EEA5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Toyjoy -Seasonal Inventory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CC8E5-84B3-1FC4-77F5-2BECB1576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199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FCDDB-29BA-EC6A-F87A-6BEEE53BE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88" y="136526"/>
            <a:ext cx="10779211" cy="704336"/>
          </a:xfrm>
        </p:spPr>
        <p:txBody>
          <a:bodyPr>
            <a:normAutofit/>
          </a:bodyPr>
          <a:lstStyle/>
          <a:p>
            <a:pPr algn="ctr"/>
            <a:r>
              <a:rPr lang="en-US" sz="2400" b="1" i="1" dirty="0">
                <a:solidFill>
                  <a:srgbClr val="002060"/>
                </a:solidFill>
                <a:latin typeface="Cambria" panose="02040503050406030204" pitchFamily="18" charset="0"/>
              </a:rPr>
              <a:t>5.1.DASHBOARD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DB45D-D3F2-7916-0942-DD2F9D048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8" y="1087396"/>
            <a:ext cx="11994292" cy="53875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10C18-CED4-425F-F524-73866A670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40C-FBFC-194F-8C54-5A9B22C01E42}" type="datetime1">
              <a:rPr lang="en-IN" smtClean="0"/>
              <a:t>20/05/26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C0357-3993-C7FB-981D-95C0C7E9D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Toyjoy -Seasonal Inventory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F1F41-AAE5-DD66-2C5C-A30249259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67D77A-A84D-5F4D-41F7-438694BA8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0862"/>
            <a:ext cx="12192000" cy="601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217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990AF-6134-DA7A-D438-D842B9CB9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965621" y="704335"/>
            <a:ext cx="14548022" cy="5461688"/>
          </a:xfrm>
        </p:spPr>
        <p:txBody>
          <a:bodyPr>
            <a:normAutofit/>
          </a:bodyPr>
          <a:lstStyle/>
          <a:p>
            <a:pPr marL="3657600" lvl="8" indent="0">
              <a:buNone/>
            </a:pPr>
            <a:r>
              <a:rPr lang="en-IN" sz="2400" b="1" i="1" dirty="0">
                <a:solidFill>
                  <a:srgbClr val="002060"/>
                </a:solidFill>
                <a:latin typeface="Cambria" panose="02040503050406030204" pitchFamily="18" charset="0"/>
              </a:rPr>
              <a:t>6.Dashboard Features</a:t>
            </a:r>
          </a:p>
          <a:p>
            <a:pPr marL="3657600" lvl="8" indent="0">
              <a:buNone/>
            </a:pPr>
            <a:endParaRPr lang="en-IN" sz="2400" b="1" i="1" dirty="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3657600" lvl="8" indent="0">
              <a:buNone/>
            </a:pPr>
            <a:r>
              <a:rPr lang="en-IN" b="1" dirty="0"/>
              <a:t> 	Interactive Dashboard Components</a:t>
            </a:r>
          </a:p>
          <a:p>
            <a:pPr marL="3657600" lvl="8" indent="0">
              <a:buNone/>
            </a:pPr>
            <a:endParaRPr lang="en-IN" b="1" dirty="0"/>
          </a:p>
          <a:p>
            <a:pPr lvl="8"/>
            <a:r>
              <a:rPr lang="en-IN" dirty="0">
                <a:latin typeface="Cambria" panose="02040503050406030204" pitchFamily="18" charset="0"/>
              </a:rPr>
              <a:t>KPI Cards </a:t>
            </a:r>
          </a:p>
          <a:p>
            <a:pPr lvl="8"/>
            <a:r>
              <a:rPr lang="en-IN" dirty="0">
                <a:latin typeface="Cambria" panose="02040503050406030204" pitchFamily="18" charset="0"/>
              </a:rPr>
              <a:t>Inventory Trend Charts </a:t>
            </a:r>
          </a:p>
          <a:p>
            <a:pPr lvl="8"/>
            <a:r>
              <a:rPr lang="en-IN" dirty="0">
                <a:latin typeface="Cambria" panose="02040503050406030204" pitchFamily="18" charset="0"/>
              </a:rPr>
              <a:t>Warehouse-wise Analysis </a:t>
            </a:r>
          </a:p>
          <a:p>
            <a:pPr lvl="8"/>
            <a:r>
              <a:rPr lang="en-IN" dirty="0">
                <a:latin typeface="Cambria" panose="02040503050406030204" pitchFamily="18" charset="0"/>
              </a:rPr>
              <a:t>Product Category Breakdown </a:t>
            </a:r>
          </a:p>
          <a:p>
            <a:pPr lvl="8"/>
            <a:r>
              <a:rPr lang="en-IN" dirty="0">
                <a:latin typeface="Cambria" panose="02040503050406030204" pitchFamily="18" charset="0"/>
              </a:rPr>
              <a:t>Top Selling Products Table </a:t>
            </a:r>
          </a:p>
          <a:p>
            <a:pPr lvl="8"/>
            <a:r>
              <a:rPr lang="en-IN" dirty="0">
                <a:latin typeface="Cambria" panose="02040503050406030204" pitchFamily="18" charset="0"/>
              </a:rPr>
              <a:t>Supplier Performance Analysis </a:t>
            </a:r>
          </a:p>
          <a:p>
            <a:pPr lvl="8"/>
            <a:r>
              <a:rPr lang="en-IN" dirty="0">
                <a:latin typeface="Cambria" panose="02040503050406030204" pitchFamily="18" charset="0"/>
              </a:rPr>
              <a:t>Low Stock Alerts </a:t>
            </a:r>
          </a:p>
          <a:p>
            <a:pPr lvl="8"/>
            <a:r>
              <a:rPr lang="en-IN" dirty="0">
                <a:latin typeface="Cambria" panose="02040503050406030204" pitchFamily="18" charset="0"/>
              </a:rPr>
              <a:t>Slicers for Category &amp; Warehouse </a:t>
            </a:r>
          </a:p>
          <a:p>
            <a:br>
              <a:rPr lang="en-IN" dirty="0"/>
            </a:br>
            <a:endParaRPr lang="en-IN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B4830-0814-3C0E-B8CB-D1FBCD22E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CA82D-E097-224C-8BDE-BD0F9A96B4BD}" type="datetime1">
              <a:rPr lang="en-IN" smtClean="0"/>
              <a:t>20/05/26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74A2C-2497-24A1-AAFF-650393419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Toyjoy -Seasonal Inventory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A2EE5-D0B5-ECF6-A8BD-12FC1675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460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42E14-278F-81FB-1F66-89BD1E667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762" y="754912"/>
            <a:ext cx="13283514" cy="5387826"/>
          </a:xfrm>
        </p:spPr>
        <p:txBody>
          <a:bodyPr/>
          <a:lstStyle/>
          <a:p>
            <a:r>
              <a:rPr lang="en-IN" sz="2400" b="1" i="1" dirty="0">
                <a:solidFill>
                  <a:srgbClr val="002060"/>
                </a:solidFill>
                <a:latin typeface="Cambria" panose="02040503050406030204" pitchFamily="18" charset="0"/>
              </a:rPr>
              <a:t>   7. Key Insights</a:t>
            </a:r>
          </a:p>
          <a:p>
            <a:endParaRPr lang="en-IN" sz="2400" b="1" i="1" dirty="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lvl="5"/>
            <a:r>
              <a:rPr lang="en-IN" dirty="0">
                <a:latin typeface="Cambria" panose="02040503050406030204" pitchFamily="18" charset="0"/>
              </a:rPr>
              <a:t>Educational Toys generated the highest sales. </a:t>
            </a:r>
          </a:p>
          <a:p>
            <a:pPr lvl="5"/>
            <a:r>
              <a:rPr lang="en-IN" dirty="0">
                <a:latin typeface="Cambria" panose="02040503050406030204" pitchFamily="18" charset="0"/>
              </a:rPr>
              <a:t>Some warehouses had excess inventory while others faced shortages. </a:t>
            </a:r>
          </a:p>
          <a:p>
            <a:pPr lvl="5"/>
            <a:r>
              <a:rPr lang="en-IN" dirty="0">
                <a:latin typeface="Cambria" panose="02040503050406030204" pitchFamily="18" charset="0"/>
              </a:rPr>
              <a:t>Fast-moving products required frequent reordering. </a:t>
            </a:r>
          </a:p>
          <a:p>
            <a:pPr lvl="5"/>
            <a:r>
              <a:rPr lang="en-IN" dirty="0">
                <a:latin typeface="Cambria" panose="02040503050406030204" pitchFamily="18" charset="0"/>
              </a:rPr>
              <a:t>Products with higher ratings had better sales performance. </a:t>
            </a:r>
          </a:p>
          <a:p>
            <a:pPr lvl="5"/>
            <a:r>
              <a:rPr lang="en-IN" dirty="0">
                <a:latin typeface="Cambria" panose="02040503050406030204" pitchFamily="18" charset="0"/>
              </a:rPr>
              <a:t>A few suppliers consistently delivered top-selling products.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B29DB-B3CF-A632-6963-C79F77CF8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7D11-AB6E-F64A-8BA9-BEC2F9A8C39E}" type="datetime1">
              <a:rPr lang="en-IN" smtClean="0"/>
              <a:t>20/05/26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1D9E5-8DE2-9084-9326-CB90B4995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Toyjoy -Seasonal Inventory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329AA-62EE-37C7-A87D-1B537E482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1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91A85-EBF3-5C36-5FF5-FB304A34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753762"/>
            <a:ext cx="10972800" cy="5388976"/>
          </a:xfrm>
        </p:spPr>
        <p:txBody>
          <a:bodyPr>
            <a:normAutofit/>
          </a:bodyPr>
          <a:lstStyle/>
          <a:p>
            <a:r>
              <a:rPr lang="en-IN" sz="2400" b="1" i="1" dirty="0">
                <a:solidFill>
                  <a:srgbClr val="002060"/>
                </a:solidFill>
                <a:latin typeface="Cambria" panose="02040503050406030204" pitchFamily="18" charset="0"/>
              </a:rPr>
              <a:t>8. Recommendations</a:t>
            </a:r>
          </a:p>
          <a:p>
            <a:endParaRPr lang="en-IN" sz="2400" b="1" i="1" dirty="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lvl="2"/>
            <a:r>
              <a:rPr lang="en-IN" sz="2000" b="1" i="1" dirty="0">
                <a:latin typeface="Cambria" panose="02040503050406030204" pitchFamily="18" charset="0"/>
              </a:rPr>
              <a:t>8.1.Quick Wins</a:t>
            </a:r>
          </a:p>
          <a:p>
            <a:pPr lvl="5"/>
            <a:r>
              <a:rPr lang="en-IN" dirty="0">
                <a:latin typeface="Cambria" panose="02040503050406030204" pitchFamily="18" charset="0"/>
              </a:rPr>
              <a:t>Restock low inventory products immediately </a:t>
            </a:r>
          </a:p>
          <a:p>
            <a:pPr lvl="5"/>
            <a:r>
              <a:rPr lang="en-IN" dirty="0">
                <a:latin typeface="Cambria" panose="02040503050406030204" pitchFamily="18" charset="0"/>
              </a:rPr>
              <a:t>Transfer excess stock between warehouses </a:t>
            </a:r>
          </a:p>
          <a:p>
            <a:pPr lvl="5"/>
            <a:r>
              <a:rPr lang="en-IN" dirty="0">
                <a:latin typeface="Cambria" panose="02040503050406030204" pitchFamily="18" charset="0"/>
              </a:rPr>
              <a:t>Focus promotions on high-rated products </a:t>
            </a:r>
          </a:p>
          <a:p>
            <a:pPr lvl="5"/>
            <a:endParaRPr lang="en-IN" dirty="0">
              <a:latin typeface="Cambria" panose="02040503050406030204" pitchFamily="18" charset="0"/>
            </a:endParaRPr>
          </a:p>
          <a:p>
            <a:pPr lvl="2"/>
            <a:r>
              <a:rPr lang="en-IN" sz="2000" b="1" i="1" dirty="0">
                <a:latin typeface="Cambria" panose="02040503050406030204" pitchFamily="18" charset="0"/>
              </a:rPr>
              <a:t>8.2.Long-Term Strategies</a:t>
            </a:r>
          </a:p>
          <a:p>
            <a:pPr lvl="2"/>
            <a:endParaRPr lang="en-IN" sz="2000" b="1" i="1" dirty="0">
              <a:latin typeface="Cambria" panose="02040503050406030204" pitchFamily="18" charset="0"/>
            </a:endParaRPr>
          </a:p>
          <a:p>
            <a:pPr lvl="5"/>
            <a:r>
              <a:rPr lang="en-IN" dirty="0">
                <a:latin typeface="Cambria" panose="02040503050406030204" pitchFamily="18" charset="0"/>
              </a:rPr>
              <a:t>Implement automated reorder alerts </a:t>
            </a:r>
          </a:p>
          <a:p>
            <a:pPr lvl="5"/>
            <a:r>
              <a:rPr lang="en-IN" dirty="0">
                <a:latin typeface="Cambria" panose="02040503050406030204" pitchFamily="18" charset="0"/>
              </a:rPr>
              <a:t>Use demand forecasting </a:t>
            </a:r>
          </a:p>
          <a:p>
            <a:pPr lvl="5"/>
            <a:r>
              <a:rPr lang="en-IN" dirty="0">
                <a:latin typeface="Cambria" panose="02040503050406030204" pitchFamily="18" charset="0"/>
              </a:rPr>
              <a:t>Improve supplier relationship management </a:t>
            </a:r>
          </a:p>
          <a:p>
            <a:pPr lvl="5"/>
            <a:r>
              <a:rPr lang="en-IN" dirty="0">
                <a:latin typeface="Cambria" panose="02040503050406030204" pitchFamily="18" charset="0"/>
              </a:rPr>
              <a:t>Optimize warehouse distribution </a:t>
            </a:r>
          </a:p>
          <a:p>
            <a:pPr marL="2286000" lvl="5" indent="0">
              <a:buNone/>
            </a:pPr>
            <a:br>
              <a:rPr lang="en-IN" dirty="0"/>
            </a:br>
            <a:endParaRPr lang="en-IN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36A2F-6854-DFBD-07B0-C483B3CFE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04664-E701-3C4E-BFA5-67E34BAE1905}" type="datetime1">
              <a:rPr lang="en-IN" smtClean="0"/>
              <a:t>20/05/26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2048D-EEF6-5781-1D43-E81A266CA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Toyjoy -Seasonal Inventory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FB71A-4435-B343-A5E3-EB8A3569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338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458A5-1C24-9C13-14DD-53BEBC45A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544595" y="704335"/>
            <a:ext cx="13126995" cy="5438403"/>
          </a:xfrm>
        </p:spPr>
        <p:txBody>
          <a:bodyPr/>
          <a:lstStyle/>
          <a:p>
            <a:pPr marL="2286000" lvl="5" indent="0">
              <a:buNone/>
            </a:pPr>
            <a:r>
              <a:rPr lang="en-IN" sz="2000" b="1" i="1" dirty="0">
                <a:solidFill>
                  <a:srgbClr val="002060"/>
                </a:solidFill>
                <a:latin typeface="Cambria" panose="02040503050406030204" pitchFamily="18" charset="0"/>
              </a:rPr>
              <a:t>9.Business Impact</a:t>
            </a:r>
          </a:p>
          <a:p>
            <a:pPr marL="2286000" lvl="5" indent="0">
              <a:buNone/>
            </a:pPr>
            <a:endParaRPr lang="en-IN" sz="2000" b="1" i="1" dirty="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lvl="7"/>
            <a:r>
              <a:rPr lang="en-IN" dirty="0">
                <a:latin typeface="Cambria" panose="02040503050406030204" pitchFamily="18" charset="0"/>
              </a:rPr>
              <a:t>After implementing the dashboard:</a:t>
            </a:r>
          </a:p>
          <a:p>
            <a:pPr lvl="7"/>
            <a:r>
              <a:rPr lang="en-IN" dirty="0">
                <a:latin typeface="Cambria" panose="02040503050406030204" pitchFamily="18" charset="0"/>
              </a:rPr>
              <a:t>Inventory visibility improved significantly </a:t>
            </a:r>
          </a:p>
          <a:p>
            <a:pPr lvl="7"/>
            <a:r>
              <a:rPr lang="en-IN" dirty="0">
                <a:latin typeface="Cambria" panose="02040503050406030204" pitchFamily="18" charset="0"/>
              </a:rPr>
              <a:t>Stock shortages were reduced </a:t>
            </a:r>
          </a:p>
          <a:p>
            <a:pPr lvl="7"/>
            <a:r>
              <a:rPr lang="en-IN" dirty="0">
                <a:latin typeface="Cambria" panose="02040503050406030204" pitchFamily="18" charset="0"/>
              </a:rPr>
              <a:t>Reorder decisions became faster </a:t>
            </a:r>
          </a:p>
          <a:p>
            <a:pPr lvl="7"/>
            <a:r>
              <a:rPr lang="en-IN" dirty="0">
                <a:latin typeface="Cambria" panose="02040503050406030204" pitchFamily="18" charset="0"/>
              </a:rPr>
              <a:t>Sales tracking became more accurate </a:t>
            </a:r>
          </a:p>
          <a:p>
            <a:pPr lvl="7"/>
            <a:r>
              <a:rPr lang="en-IN" dirty="0">
                <a:latin typeface="Cambria" panose="02040503050406030204" pitchFamily="18" charset="0"/>
              </a:rPr>
              <a:t>Inventory costs were optimized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F8551-61EB-9E17-605D-460655606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77546-4F83-AA44-BB8E-900BEED72104}" type="datetime1">
              <a:rPr lang="en-IN" smtClean="0"/>
              <a:t>20/05/26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49678-1BF4-CA46-CC85-78A26674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Toyjoy -Seasonal Inventory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E3DA6-9E8D-F481-5B33-511264828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955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913A1-12FD-AF8B-8F39-572EF75E2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433384" y="729048"/>
            <a:ext cx="13015784" cy="5413689"/>
          </a:xfrm>
        </p:spPr>
        <p:txBody>
          <a:bodyPr/>
          <a:lstStyle/>
          <a:p>
            <a:pPr marL="2286000" lvl="5" indent="0">
              <a:buNone/>
            </a:pPr>
            <a:r>
              <a:rPr lang="en-IN" sz="2400" b="1" i="1" dirty="0">
                <a:solidFill>
                  <a:srgbClr val="002060"/>
                </a:solidFill>
                <a:latin typeface="Cambria" panose="02040503050406030204" pitchFamily="18" charset="0"/>
              </a:rPr>
              <a:t>10. Conclusion</a:t>
            </a:r>
          </a:p>
          <a:p>
            <a:pPr marL="2286000" lvl="5" indent="0">
              <a:buNone/>
            </a:pPr>
            <a:endParaRPr lang="en-IN" sz="2400" b="1" i="1" dirty="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lvl="7"/>
            <a:r>
              <a:rPr lang="en-IN" dirty="0">
                <a:latin typeface="Cambria" panose="02040503050406030204" pitchFamily="18" charset="0"/>
              </a:rPr>
              <a:t>This case study demonstrates how Microsoft Power BI can help retail businesses transform inventory data into actionable insights.</a:t>
            </a:r>
          </a:p>
          <a:p>
            <a:pPr lvl="7"/>
            <a:r>
              <a:rPr lang="en-IN" dirty="0">
                <a:latin typeface="Cambria" panose="02040503050406030204" pitchFamily="18" charset="0"/>
              </a:rPr>
              <a:t>The dashboard enabled </a:t>
            </a:r>
            <a:r>
              <a:rPr lang="en-IN" dirty="0" err="1">
                <a:latin typeface="Cambria" panose="02040503050406030204" pitchFamily="18" charset="0"/>
              </a:rPr>
              <a:t>ToyJoy</a:t>
            </a:r>
            <a:r>
              <a:rPr lang="en-IN" dirty="0">
                <a:latin typeface="Cambria" panose="02040503050406030204" pitchFamily="18" charset="0"/>
              </a:rPr>
              <a:t> to:</a:t>
            </a:r>
          </a:p>
          <a:p>
            <a:pPr lvl="7"/>
            <a:r>
              <a:rPr lang="en-IN" dirty="0">
                <a:latin typeface="Cambria" panose="02040503050406030204" pitchFamily="18" charset="0"/>
              </a:rPr>
              <a:t>Improve inventory efficiency </a:t>
            </a:r>
          </a:p>
          <a:p>
            <a:pPr lvl="7"/>
            <a:r>
              <a:rPr lang="en-IN" dirty="0">
                <a:latin typeface="Cambria" panose="02040503050406030204" pitchFamily="18" charset="0"/>
              </a:rPr>
              <a:t>Optimize stock management </a:t>
            </a:r>
          </a:p>
          <a:p>
            <a:pPr lvl="7"/>
            <a:r>
              <a:rPr lang="en-IN" dirty="0">
                <a:latin typeface="Cambria" panose="02040503050406030204" pitchFamily="18" charset="0"/>
              </a:rPr>
              <a:t>Increase operational productivity </a:t>
            </a:r>
          </a:p>
          <a:p>
            <a:pPr lvl="7"/>
            <a:r>
              <a:rPr lang="en-IN" dirty="0">
                <a:latin typeface="Cambria" panose="02040503050406030204" pitchFamily="18" charset="0"/>
              </a:rPr>
              <a:t>Support data-driven business decisions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A8501-4FA9-21B5-939C-8C421D00B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CBE8F-9D00-084B-B8A8-E30987A4234F}" type="datetime1">
              <a:rPr lang="en-IN" smtClean="0"/>
              <a:t>20/05/26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3EDFE-62F4-48F4-8856-1C8CB56C8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Toyjoy -Seasonal Inventory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5AC05-ED9F-3AC5-944F-6714C710A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16690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462</Words>
  <Application>Microsoft Macintosh PowerPoint</Application>
  <PresentationFormat>Widescreen</PresentationFormat>
  <Paragraphs>140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Arial</vt:lpstr>
      <vt:lpstr>Avenir Next LT Pro</vt:lpstr>
      <vt:lpstr>Cambria</vt:lpstr>
      <vt:lpstr>Posterama</vt:lpstr>
      <vt:lpstr>Times New Roman</vt:lpstr>
      <vt:lpstr>Wingdings</vt:lpstr>
      <vt:lpstr>SplashVTI</vt:lpstr>
      <vt:lpstr> CASE STUDY-5   TOYJOY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5.1.DASHBOARD SUMMARY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Prabhakaran, Nivas Karthi</dc:creator>
  <cp:lastModifiedBy>Prabhakaran, Nivas Karthi</cp:lastModifiedBy>
  <cp:revision>5</cp:revision>
  <dcterms:created xsi:type="dcterms:W3CDTF">2026-05-20T06:59:07Z</dcterms:created>
  <dcterms:modified xsi:type="dcterms:W3CDTF">2026-05-20T16:14:52Z</dcterms:modified>
</cp:coreProperties>
</file>